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6" autoAdjust="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658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052560" y="640080"/>
            <a:ext cx="1920240" cy="1920240"/>
          </a:xfrm>
          <a:prstGeom prst="ellipse">
            <a:avLst/>
          </a:prstGeom>
          <a:solidFill>
            <a:srgbClr val="112A41"/>
          </a:solidFill>
          <a:ln>
            <a:solidFill>
              <a:srgbClr val="112A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75520" y="1828800"/>
            <a:ext cx="1280160" cy="1280160"/>
          </a:xfrm>
          <a:prstGeom prst="ellipse">
            <a:avLst/>
          </a:prstGeom>
          <a:solidFill>
            <a:srgbClr val="172549"/>
          </a:solidFill>
          <a:ln>
            <a:solidFill>
              <a:srgbClr val="1725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138160" y="3200400"/>
            <a:ext cx="2377440" cy="2377440"/>
          </a:xfrm>
          <a:prstGeom prst="ellipse">
            <a:avLst/>
          </a:prstGeom>
          <a:solidFill>
            <a:srgbClr val="0F2136"/>
          </a:solidFill>
          <a:ln>
            <a:solidFill>
              <a:srgbClr val="0F21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5029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ENGINEERING MODERNIZATION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7315200" cy="8229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F2F6FF"/>
                </a:solidFill>
                <a:latin typeface="Aptos"/>
              </a:rPr>
              <a:t>CPU-Z → HW Intel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58368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A0AEC6"/>
                </a:solidFill>
                <a:latin typeface="Aptos"/>
              </a:rPr>
              <a:t>From hardware identification to an interactive hardware intelligence experience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4389120" cy="64008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995928"/>
            <a:ext cx="39319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REA  +  Ghidra  +  Antigravity 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897880"/>
            <a:ext cx="7315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Architecture • Evidence-led reverse engineering • Modern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6035040"/>
            <a:ext cx="20116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3FDAE8"/>
                </a:solidFill>
                <a:latin typeface="Aptos"/>
              </a:rPr>
              <a:t>PROJECT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27248"/>
            <a:ext cx="6903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A0AEC6"/>
                </a:solidFill>
                <a:latin typeface="Aptos"/>
              </a:rPr>
              <a:t>Use REA and Ghidra to trace CPU-Z behaviour, then build a separate, responsive HW Intel dashboard with evidence-backed fields, transparent data status, and repeatable validation.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01 /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What this project covers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 structured path from understanding the original application to validating a modern replacement.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214884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084831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Reverse Engineer Anything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37744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The REA toolkit and its 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96596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19672" y="214884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84831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Ghidra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8312" y="237744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Static analysis and decompilation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2608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310896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4752" y="304495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How REA supports modernization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33756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Trace behaviour → document evidence → implement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292608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310896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304495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CPU-Z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333756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What the original application provides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8620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406908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00507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Modernization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29768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Scope, guardrails, and deliverables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388620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406908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2" y="400507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Agentic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68312" y="429768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Antigravity IDE, Claude Sonnet 4.6, REA MCP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846320"/>
            <a:ext cx="525780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6112" y="5029200"/>
            <a:ext cx="43891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3FDAE8"/>
                </a:solidFill>
                <a:latin typeface="Apto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4752" y="4965192"/>
            <a:ext cx="425196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Before vs. 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44752" y="5257800"/>
            <a:ext cx="42519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The HW Intel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053328"/>
            <a:ext cx="10515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Outcome: a testable, transparent hardware dashboard—not just a visual reskin.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02 /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Reverse Engineer Anything (REA)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An MCP server and CLI that gives AI coding agents structured tools to inspect software without its original source.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3429000" cy="189738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6112" y="2258568"/>
            <a:ext cx="41148" cy="101498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What it contributes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 dirty="0">
                <a:solidFill>
                  <a:srgbClr val="A0AEC6"/>
                </a:solidFill>
                <a:latin typeface="Aptos"/>
              </a:rPr>
              <a:t>Exposes reverse-engineering workflows through MCP so agents can investigate binaries, .NET assemblies, web apps, and APKs using the appropriate analysis tools.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57399"/>
            <a:ext cx="3429000" cy="1897379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53712" y="2258568"/>
            <a:ext cx="41148" cy="1014984"/>
          </a:xfrm>
          <a:prstGeom prst="rect">
            <a:avLst/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365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Why it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Agents can query functions, strings, cross-references, and program behaviour—then use the evidence instead of guessing from the 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57400"/>
            <a:ext cx="3429000" cy="189737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11312" y="2258568"/>
            <a:ext cx="41148" cy="1014984"/>
          </a:xfrm>
          <a:prstGeom prst="rect">
            <a:avLst/>
          </a:prstGeom>
          <a:solidFill>
            <a:srgbClr val="9E71FF"/>
          </a:solidFill>
          <a:ln>
            <a:solidFill>
              <a:srgbClr val="9E7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941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Project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Routes work to suitable engines (such as Ghidra, ILSpy, Chrome DevTools, or APKTool), manages analysis sessions, and helps keep results usable for the agent.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18288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Key principle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526280"/>
            <a:ext cx="996696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F2F6FF"/>
                </a:solidFill>
                <a:latin typeface="Aptos"/>
              </a:rPr>
              <a:t>REA orchestrates the investigation and applies an evidence-first workflow. Verify findings against raw tool output and observed behaviour.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03 / TOOLING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Ghidra: the native-binary analysis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An open-source software reverse-engineering framework for disassembly, decompilation, control-flow analysis, symbols, and cross-references.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Load binary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Import the native executable and analyse its architecture and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00984" y="3673137"/>
            <a:ext cx="2743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9476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Navigate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Locate functions, strings, imports, memory references, and entry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3673137"/>
            <a:ext cx="2743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Trace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Decompile relevant functions; follow control flow, inputs, constants, and output fields.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3" y="3673137"/>
            <a:ext cx="2743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20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987337"/>
            <a:ext cx="2468880" cy="182880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64040" y="3188505"/>
            <a:ext cx="5029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3FDAE8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673137"/>
            <a:ext cx="20574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Validate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4084617"/>
            <a:ext cx="2057400" cy="56692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Check pseudocode and cross-references against observed behaviour; record confidence and gaps.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04 /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How REA + Ghidra drive modernization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REA orchestrates the tools; Ghidra analyses native binaries; the agent turns verified evidence into a testable replacement.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Investigate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Agent asks REA for relevant functions, strings, and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7752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62072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9232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Inspect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Ghidra decompiles native code and exposes control flow and cross-references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46904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58384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8384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Evidence ledger records code evidence, assumptions, and unknowns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0376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17536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7536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Implement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7536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Build a separate provider and modern UI from verified behaviour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8" y="2852928"/>
            <a:ext cx="228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5780FF"/>
                </a:solidFill>
                <a:latin typeface="Aptos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39528" y="242316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76688" y="2587752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2871216"/>
            <a:ext cx="1783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Verify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76688" y="3227832"/>
            <a:ext cx="178308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A0AEC6"/>
                </a:solidFill>
                <a:latin typeface="Aptos"/>
              </a:rPr>
              <a:t>Compare with CPU-Z on the same machine; test outputs and UI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343400"/>
            <a:ext cx="1371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Evidence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09160"/>
            <a:ext cx="10515600" cy="7315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2F6FF"/>
                </a:solidFill>
                <a:latin typeface="Aptos"/>
              </a:rPr>
              <a:t>Evidence gate: capture raw decompilation, strings, xrefs, and relevant call paths. If a field’s detection method or calculation is unknown, document it in research/data-access-strategy.md—never invent a formula or claim equivalence without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05 / TARGET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CPU-Z: the starting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 focused Windows utility for identifying processor, cache, motherboard, memory, SPD, and graphics 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103120"/>
            <a:ext cx="50749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291072" y="2304288"/>
            <a:ext cx="41148" cy="60350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73952" y="2304288"/>
            <a:ext cx="45262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Strength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73952" y="2743200"/>
            <a:ext cx="450799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Compact, familiar hardware identification and specification views.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3381950"/>
            <a:ext cx="50749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91072" y="3538728"/>
            <a:ext cx="41148" cy="603504"/>
          </a:xfrm>
          <a:prstGeom prst="rect">
            <a:avLst/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73952" y="3538728"/>
            <a:ext cx="45262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Modernization opportunity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3977639"/>
            <a:ext cx="450799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 dirty="0">
                <a:solidFill>
                  <a:srgbClr val="A0AEC6"/>
                </a:solidFill>
                <a:latin typeface="Aptos"/>
              </a:rPr>
              <a:t>Improve information hierarchy, discoverability, accessibility, visualization, and programmatic access.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16390"/>
            <a:ext cx="50749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91072" y="4773168"/>
            <a:ext cx="41148" cy="420624"/>
          </a:xfrm>
          <a:prstGeom prst="rect">
            <a:avLst/>
          </a:prstGeom>
          <a:solidFill>
            <a:srgbClr val="FFBF5C"/>
          </a:solidFill>
          <a:ln>
            <a:solidFill>
              <a:srgbClr val="FFB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73952" y="4773168"/>
            <a:ext cx="452628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Guardrail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73952" y="5212080"/>
            <a:ext cx="4507992" cy="457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Keep the original executable unchanged; build and validate a separate application.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ED08A364-B586-E008-7442-EF2DE39B7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78" y="1939059"/>
            <a:ext cx="3701380" cy="3796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06 /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The modernization prompt: concise gist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The prompt directs the agent to investigate first, build second, and verify before making claims.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65960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87552" y="2130552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Discover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2130552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Identify the installed version, dependencies, environment, and available REA/Ghidra tools.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24912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87552" y="2889504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889504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Investigate CPU-Z’s real detection paths, calculations, units, and output behaviour.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83863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7552" y="3648456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3648456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Maintain an evidence ledger, data-access strategy, and field-level coverage matrix.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242816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4407407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4407407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Create a separate layered backend + responsive dashboard with honest unavailable states.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001768"/>
            <a:ext cx="10652760" cy="59436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87552" y="5166359"/>
            <a:ext cx="13716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5166359"/>
            <a:ext cx="864108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Run tests, inspect the UI, compare fields with CPU-Z, and document unresolved gaps.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07 /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Agentic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The tools and roles used to coordinate investigation, implementation, and validation.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87552" y="2157984"/>
            <a:ext cx="73152" cy="457200"/>
          </a:xfrm>
          <a:prstGeom prst="roundRect">
            <a:avLst>
              <a:gd name="adj" fmla="val 12000"/>
            </a:avLst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3FDAE8"/>
                </a:solidFill>
                <a:latin typeface="Aptos"/>
              </a:rPr>
              <a:t>CODING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121408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Antigravity 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39696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Coordinates project work, edits files, runs commands, and iterates on implementation.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44368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87552" y="3090672"/>
            <a:ext cx="73152" cy="457200"/>
          </a:xfrm>
          <a:prstGeom prst="roundRect">
            <a:avLst>
              <a:gd name="adj" fmla="val 12000"/>
            </a:avLst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61872" y="3054096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5780FF"/>
                </a:solidFill>
                <a:latin typeface="Aptos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054096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Claude Sonnet 4.6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72384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Reasoning and coding model selected for the agent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77056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87552" y="4023360"/>
            <a:ext cx="73152" cy="457200"/>
          </a:xfrm>
          <a:prstGeom prst="roundRect">
            <a:avLst>
              <a:gd name="adj" fmla="val 12000"/>
            </a:avLst>
          </a:prstGeom>
          <a:solidFill>
            <a:srgbClr val="9E71FF"/>
          </a:solidFill>
          <a:ln>
            <a:solidFill>
              <a:srgbClr val="9E7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61872" y="3986784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9E71FF"/>
                </a:solidFill>
                <a:latin typeface="Aptos"/>
              </a:rPr>
              <a:t>REVERSE ENGINEERING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37560" y="3986784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REA registered as MCP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005072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Exposes REA capabilities to the coding agent through the MCP integration.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09744"/>
            <a:ext cx="10561320" cy="749808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87552" y="4956048"/>
            <a:ext cx="73152" cy="457200"/>
          </a:xfrm>
          <a:prstGeom prst="roundRect">
            <a:avLst>
              <a:gd name="adj" fmla="val 12000"/>
            </a:avLst>
          </a:prstGeom>
          <a:solidFill>
            <a:srgbClr val="4EDDA3"/>
          </a:solidFill>
          <a:ln>
            <a:solidFill>
              <a:srgbClr val="4EDD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261872" y="4919472"/>
            <a:ext cx="201168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4EDDA3"/>
                </a:solidFill>
                <a:latin typeface="Aptos"/>
              </a:rPr>
              <a:t>ANALYSIS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919472"/>
            <a:ext cx="301752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F2F6FF"/>
                </a:solidFill>
                <a:latin typeface="Aptos"/>
              </a:rPr>
              <a:t>Ghidra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937759"/>
            <a:ext cx="466344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A0AEC6"/>
                </a:solidFill>
                <a:latin typeface="Aptos"/>
              </a:rPr>
              <a:t>Binary analysis, decompilation, cross-reference inspection, and evidence gathering.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08 /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Traditional CPU-Z vs. HW Intel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04167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D45C8D8D-B14D-8AC2-C6D3-1DF48A509A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33" y="1238160"/>
            <a:ext cx="9160030" cy="51497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576323-E678-5FC1-6733-C834831C4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5DC7D5-89D7-8711-209D-196A4366F6AA}"/>
              </a:ext>
            </a:extLst>
          </p:cNvPr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08 /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EFA5D6-53C5-3926-4CE9-E9AEAD7E1710}"/>
              </a:ext>
            </a:extLst>
          </p:cNvPr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Traditional CPU-Z vs. HW Intel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038B0-351D-9F33-5552-C99C2EB2D0D8}"/>
              </a:ext>
            </a:extLst>
          </p:cNvPr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The aim is not only a visual reskin: it is a more discoverable, testable, and transparent experience.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773696-4894-DDB4-92F1-0EE07FBF32B5}"/>
              </a:ext>
            </a:extLst>
          </p:cNvPr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14877-21AE-6ED9-4CF4-61AD6EBEBFD1}"/>
              </a:ext>
            </a:extLst>
          </p:cNvPr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543E9-FE6B-3124-2BCE-19EDE7F544F7}"/>
              </a:ext>
            </a:extLst>
          </p:cNvPr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7C162E7-8ED3-E135-41F0-319D8F762483}"/>
              </a:ext>
            </a:extLst>
          </p:cNvPr>
          <p:cNvSpPr/>
          <p:nvPr/>
        </p:nvSpPr>
        <p:spPr>
          <a:xfrm>
            <a:off x="731520" y="1993392"/>
            <a:ext cx="5166360" cy="4114800"/>
          </a:xfrm>
          <a:prstGeom prst="roundRect">
            <a:avLst>
              <a:gd name="adj" fmla="val 12000"/>
            </a:avLst>
          </a:prstGeom>
          <a:solidFill>
            <a:srgbClr val="181E2C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0CE68AC-3644-7AD3-946E-C96C41E67A27}"/>
              </a:ext>
            </a:extLst>
          </p:cNvPr>
          <p:cNvSpPr/>
          <p:nvPr/>
        </p:nvSpPr>
        <p:spPr>
          <a:xfrm>
            <a:off x="6217920" y="1993392"/>
            <a:ext cx="5212080" cy="4114800"/>
          </a:xfrm>
          <a:prstGeom prst="roundRect">
            <a:avLst>
              <a:gd name="adj" fmla="val 12000"/>
            </a:avLst>
          </a:prstGeom>
          <a:solidFill>
            <a:srgbClr val="101F30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A21ED-36D7-0F2E-F961-7CA9ABFF3D6C}"/>
              </a:ext>
            </a:extLst>
          </p:cNvPr>
          <p:cNvSpPr txBox="1"/>
          <p:nvPr/>
        </p:nvSpPr>
        <p:spPr>
          <a:xfrm>
            <a:off x="960120" y="224028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A0AEC6"/>
                </a:solidFill>
                <a:latin typeface="Aptos"/>
              </a:rPr>
              <a:t>TRADITIONAL CPU-Z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0E0FFF-3A63-5C7C-24AF-CABCB1394B17}"/>
              </a:ext>
            </a:extLst>
          </p:cNvPr>
          <p:cNvSpPr txBox="1"/>
          <p:nvPr/>
        </p:nvSpPr>
        <p:spPr>
          <a:xfrm>
            <a:off x="6446520" y="2240280"/>
            <a:ext cx="43891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3FDAE8"/>
                </a:solidFill>
                <a:latin typeface="Aptos"/>
              </a:rPr>
              <a:t>HW INTEL DASHBOARD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78E50B-812F-C097-50D9-86C5167B42F4}"/>
              </a:ext>
            </a:extLst>
          </p:cNvPr>
          <p:cNvSpPr txBox="1"/>
          <p:nvPr/>
        </p:nvSpPr>
        <p:spPr>
          <a:xfrm>
            <a:off x="1005840" y="2724912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Win32 tabbed dialog; fixed-size layout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1A77B5-21CF-D140-394E-FC7C1A078145}"/>
              </a:ext>
            </a:extLst>
          </p:cNvPr>
          <p:cNvSpPr txBox="1"/>
          <p:nvPr/>
        </p:nvSpPr>
        <p:spPr>
          <a:xfrm>
            <a:off x="1005840" y="3108960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Plain labels and static fields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634887-BF3F-0D03-28E1-DC6A43171330}"/>
              </a:ext>
            </a:extLst>
          </p:cNvPr>
          <p:cNvSpPr txBox="1"/>
          <p:nvPr/>
        </p:nvSpPr>
        <p:spPr>
          <a:xfrm>
            <a:off x="1005840" y="3493008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Six fixed tabs; no global search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F773F6-BFCD-E5B8-458E-C2A94CF0EA55}"/>
              </a:ext>
            </a:extLst>
          </p:cNvPr>
          <p:cNvSpPr txBox="1"/>
          <p:nvPr/>
        </p:nvSpPr>
        <p:spPr>
          <a:xfrm>
            <a:off x="1005840" y="3877056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TXT / HTML report export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AEDA1C-35AB-BCF7-DA09-29F27C2296E3}"/>
              </a:ext>
            </a:extLst>
          </p:cNvPr>
          <p:cNvSpPr txBox="1"/>
          <p:nvPr/>
        </p:nvSpPr>
        <p:spPr>
          <a:xfrm>
            <a:off x="1005840" y="4261104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Manual refresh (F5)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450B95-80BE-05E9-2CD5-4B19FDE64933}"/>
              </a:ext>
            </a:extLst>
          </p:cNvPr>
          <p:cNvSpPr txBox="1"/>
          <p:nvPr/>
        </p:nvSpPr>
        <p:spPr>
          <a:xfrm>
            <a:off x="1005840" y="4645152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Limited documented programmatic access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BEA395-CBCF-ABB3-1B56-E5BC6ACC68A4}"/>
              </a:ext>
            </a:extLst>
          </p:cNvPr>
          <p:cNvSpPr txBox="1"/>
          <p:nvPr/>
        </p:nvSpPr>
        <p:spPr>
          <a:xfrm>
            <a:off x="1005840" y="5029200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Field sources and limitations less visible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34AB1F7-034B-DAFB-73D9-D1B4C552A2BF}"/>
              </a:ext>
            </a:extLst>
          </p:cNvPr>
          <p:cNvSpPr txBox="1"/>
          <p:nvPr/>
        </p:nvSpPr>
        <p:spPr>
          <a:xfrm>
            <a:off x="1005840" y="5413248"/>
            <a:ext cx="457200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Manual validation workflow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B5604E-000E-4846-4DC0-4BEFE69979D4}"/>
              </a:ext>
            </a:extLst>
          </p:cNvPr>
          <p:cNvSpPr txBox="1"/>
          <p:nvPr/>
        </p:nvSpPr>
        <p:spPr>
          <a:xfrm>
            <a:off x="6492240" y="2724912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Dark-first responsive web interface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5ABFF-16E1-F286-E69A-73E59EC063F6}"/>
              </a:ext>
            </a:extLst>
          </p:cNvPr>
          <p:cNvSpPr txBox="1"/>
          <p:nvPr/>
        </p:nvSpPr>
        <p:spPr>
          <a:xfrm>
            <a:off x="6492240" y="3108960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Metric cards, SVG gauges, topology &amp; cache visuals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37242E-C467-B7F7-EF79-9EAD4AE7FDE0}"/>
              </a:ext>
            </a:extLst>
          </p:cNvPr>
          <p:cNvSpPr txBox="1"/>
          <p:nvPr/>
        </p:nvSpPr>
        <p:spPr>
          <a:xfrm>
            <a:off x="6492240" y="3493008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Sidebar navigation and global field search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2B9744-5BE9-C733-BB1F-02BAD8BF574B}"/>
              </a:ext>
            </a:extLst>
          </p:cNvPr>
          <p:cNvSpPr txBox="1"/>
          <p:nvPr/>
        </p:nvSpPr>
        <p:spPr>
          <a:xfrm>
            <a:off x="6492240" y="3877056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One-click JSON and CSV export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6747C-3125-DAE6-F069-783A0CDADD3F}"/>
              </a:ext>
            </a:extLst>
          </p:cNvPr>
          <p:cNvSpPr txBox="1"/>
          <p:nvPr/>
        </p:nvSpPr>
        <p:spPr>
          <a:xfrm>
            <a:off x="6492240" y="4261104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Background polling for supported live metrics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D0EFE1-19EA-A881-E39B-5115404E1FE5}"/>
              </a:ext>
            </a:extLst>
          </p:cNvPr>
          <p:cNvSpPr txBox="1"/>
          <p:nvPr/>
        </p:nvSpPr>
        <p:spPr>
          <a:xfrm>
            <a:off x="6492240" y="4645152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Documented REST API and OpenAPI docs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121834-CAA1-757E-04CB-33407EB15491}"/>
              </a:ext>
            </a:extLst>
          </p:cNvPr>
          <p:cNvSpPr txBox="1"/>
          <p:nvPr/>
        </p:nvSpPr>
        <p:spPr>
          <a:xfrm>
            <a:off x="6492240" y="5029200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Source, units, availability and limitations shown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B56307-0D90-93A4-2979-00B8FF17302D}"/>
              </a:ext>
            </a:extLst>
          </p:cNvPr>
          <p:cNvSpPr txBox="1"/>
          <p:nvPr/>
        </p:nvSpPr>
        <p:spPr>
          <a:xfrm>
            <a:off x="6492240" y="5413248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2F6FF"/>
                </a:solidFill>
                <a:latin typeface="Aptos"/>
              </a:rPr>
              <a:t>• Automated tests and repeatable validation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57A20F1-C8FA-E590-8D4C-63998B60B75C}"/>
              </a:ext>
            </a:extLst>
          </p:cNvPr>
          <p:cNvSpPr txBox="1"/>
          <p:nvPr/>
        </p:nvSpPr>
        <p:spPr>
          <a:xfrm>
            <a:off x="777240" y="6199632"/>
            <a:ext cx="1069848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CPU-Z identifies your hardware. HW Intel explains, visualizes, and exposes it—with an API.</a:t>
            </a:r>
          </a:p>
        </p:txBody>
      </p:sp>
    </p:spTree>
    <p:extLst>
      <p:ext uri="{BB962C8B-B14F-4D97-AF65-F5344CB8AC3E}">
        <p14:creationId xmlns:p14="http://schemas.microsoft.com/office/powerpoint/2010/main" val="3002621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09 / PRODUCT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HW Intel — dashboard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Illustrative layout only. Replace these concept mockups with screenshots captured from the running application.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26679" y="2148840"/>
            <a:ext cx="3566160" cy="9601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891271" y="2350008"/>
            <a:ext cx="41148" cy="55778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74152" y="2350008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Overview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74152" y="2788920"/>
            <a:ext cx="29992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At-a-glance hardware profile and key metrics.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26679" y="3337560"/>
            <a:ext cx="3566160" cy="9601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891271" y="3538728"/>
            <a:ext cx="41148" cy="557784"/>
          </a:xfrm>
          <a:prstGeom prst="rect">
            <a:avLst/>
          </a:prstGeom>
          <a:solidFill>
            <a:srgbClr val="5780FF"/>
          </a:solidFill>
          <a:ln>
            <a:solidFill>
              <a:srgbClr val="578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074152" y="3538728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Visual hierarchy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74152" y="3977639"/>
            <a:ext cx="29992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Distinct sections, clear labels, and readable technical detail.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26679" y="4526280"/>
            <a:ext cx="3566160" cy="109728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891271" y="4727448"/>
            <a:ext cx="41148" cy="557784"/>
          </a:xfrm>
          <a:prstGeom prst="rect">
            <a:avLst/>
          </a:prstGeom>
          <a:solidFill>
            <a:srgbClr val="FFBF5C"/>
          </a:solidFill>
          <a:ln>
            <a:solidFill>
              <a:srgbClr val="FFB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074152" y="4727448"/>
            <a:ext cx="301752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 dirty="0">
                <a:solidFill>
                  <a:srgbClr val="F2F6FF"/>
                </a:solidFill>
                <a:latin typeface="Aptos"/>
              </a:rPr>
              <a:t>Honest data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74152" y="5166360"/>
            <a:ext cx="299923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A0AEC6"/>
                </a:solidFill>
                <a:latin typeface="Aptos"/>
              </a:rPr>
              <a:t>Only verified values; unavailable fields are explicitly marked.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867959E3-1133-148A-DCF8-A18584F19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62" y="1896608"/>
            <a:ext cx="6080808" cy="414140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09 / PRODUCT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Explore the details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238" y="1115393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586956" y="6123373"/>
            <a:ext cx="228600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FDAE8"/>
                </a:solidFill>
                <a:latin typeface="Aptos"/>
              </a:rPr>
              <a:t>CPU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522564" y="6132256"/>
            <a:ext cx="2286000" cy="2369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9E71FF"/>
                </a:solidFill>
                <a:latin typeface="Aptos"/>
              </a:rPr>
              <a:t>Memory</a:t>
            </a:r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C79A1060-C14C-65D2-03E6-A940A27C0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42" y="1220111"/>
            <a:ext cx="5040791" cy="46841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DE3310D6-555C-42F1-1CB3-8E82A0C0F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219" y="1228995"/>
            <a:ext cx="6095364" cy="468410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50292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3FDAE8"/>
                </a:solidFill>
                <a:latin typeface="Aptos"/>
              </a:rPr>
              <a:t>10 /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F2F6FF"/>
                </a:solidFill>
                <a:latin typeface="Aptos"/>
              </a:rPr>
              <a:t>Accuracy is a product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88136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A0AEC6"/>
                </a:solidFill>
                <a:latin typeface="Aptos"/>
              </a:rPr>
              <a:t>A modern interface is only valuable when the underlying values are trustworthy.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719072"/>
            <a:ext cx="10972800" cy="13716"/>
          </a:xfrm>
          <a:prstGeom prst="rect">
            <a:avLst/>
          </a:prstGeom>
          <a:solidFill>
            <a:srgbClr val="313F59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01400" y="6473952"/>
            <a:ext cx="36576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/>
            <a:r>
              <a:rPr sz="900" b="1" i="0">
                <a:solidFill>
                  <a:srgbClr val="A0AEC6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6473952"/>
            <a:ext cx="5486400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800" b="1" i="0">
                <a:solidFill>
                  <a:srgbClr val="A0AEC6"/>
                </a:solidFill>
                <a:latin typeface="Aptos"/>
              </a:rPr>
              <a:t>HW INTEL  •  CPU-Z MODERNIZATION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57400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96112" y="2258568"/>
            <a:ext cx="41148" cy="1014984"/>
          </a:xfrm>
          <a:prstGeom prst="rect">
            <a:avLst/>
          </a:prstGeom>
          <a:solidFill>
            <a:srgbClr val="3FDAE8"/>
          </a:solidFill>
          <a:ln>
            <a:solidFill>
              <a:srgbClr val="3F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Evidence-first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Trace fields through REA/Ghidra and record the supporting evidence.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057400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53712" y="2258568"/>
            <a:ext cx="41148" cy="1014984"/>
          </a:xfrm>
          <a:prstGeom prst="rect">
            <a:avLst/>
          </a:prstGeom>
          <a:solidFill>
            <a:srgbClr val="FFBF5C"/>
          </a:solidFill>
          <a:ln>
            <a:solidFill>
              <a:srgbClr val="FFB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365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No guessed formulas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Unknown calculation methods stay documented as unknown—not silently approximated.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57400"/>
            <a:ext cx="3429000" cy="141732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11312" y="2258568"/>
            <a:ext cx="41148" cy="1014984"/>
          </a:xfrm>
          <a:prstGeom prst="rect">
            <a:avLst/>
          </a:prstGeom>
          <a:solidFill>
            <a:srgbClr val="4EDDA3"/>
          </a:solidFill>
          <a:ln>
            <a:solidFill>
              <a:srgbClr val="4EDD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94192" y="2258568"/>
            <a:ext cx="28803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F2F6FF"/>
                </a:solidFill>
                <a:latin typeface="Aptos"/>
              </a:rPr>
              <a:t>Validation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97480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A0AEC6"/>
                </a:solidFill>
                <a:latin typeface="Aptos"/>
              </a:rPr>
              <a:t>Compare outputs with CPU-Z on the same machine where practical.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22860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3FDAE8"/>
                </a:solidFill>
                <a:latin typeface="Aptos"/>
              </a:rPr>
              <a:t>Definition of 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526280"/>
            <a:ext cx="10241280" cy="1508760"/>
          </a:xfrm>
          <a:prstGeom prst="rect">
            <a:avLst/>
          </a:prstGeom>
          <a:noFill/>
        </p:spPr>
        <p:txBody>
          <a:bodyPr wrap="square" lIns="27432" tIns="27432" rIns="27432" bIns="18288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Application launches reliably and core sections work.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Implemented fields use real providers and explicit units/status.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Automated tests pass or remaining failures are documented.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Coverage matrix distinguishes verified, partial, unsupported, and unknown fields.</a:t>
            </a:r>
          </a:p>
          <a:p>
            <a:pPr>
              <a:spcAft>
                <a:spcPts val="500"/>
              </a:spcAft>
              <a:defRPr sz="1300">
                <a:solidFill>
                  <a:srgbClr val="F2F6FF"/>
                </a:solidFill>
                <a:latin typeface="Aptos"/>
              </a:defRPr>
            </a:pPr>
            <a:r>
              <a:t>Original CPU-Z executable remains unchanged.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731520"/>
            <a:ext cx="27432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3FDAE8"/>
                </a:solidFill>
                <a:latin typeface="Aptos"/>
              </a:rPr>
              <a:t>THE OUTCOME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9784080" cy="12344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3200" b="1" i="0">
                <a:solidFill>
                  <a:srgbClr val="F2F6FF"/>
                </a:solidFill>
                <a:latin typeface="Aptos"/>
              </a:rPr>
              <a:t>From a hardware utility
to a hardware intelligence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89611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A0AEC6"/>
                </a:solidFill>
                <a:latin typeface="Aptos"/>
              </a:rPr>
              <a:t>Investigate accurately. Visualize clearly. Expose data responsibly.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4370832"/>
            <a:ext cx="2743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3FDAE8"/>
                </a:solidFill>
                <a:latin typeface="Aptos"/>
              </a:rPr>
              <a:t>UNDERSTAND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283464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REA + Ghidra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4160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4370832"/>
            <a:ext cx="2743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5780FF"/>
                </a:solidFill>
                <a:latin typeface="Aptos"/>
              </a:rPr>
              <a:t>MODERNIZE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709160"/>
            <a:ext cx="283464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Responsive visual experience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160520"/>
            <a:ext cx="3246120" cy="1005840"/>
          </a:xfrm>
          <a:prstGeom prst="roundRect">
            <a:avLst>
              <a:gd name="adj" fmla="val 12000"/>
            </a:avLst>
          </a:prstGeom>
          <a:solidFill>
            <a:srgbClr val="141C2F"/>
          </a:solidFill>
          <a:ln>
            <a:solidFill>
              <a:srgbClr val="313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4370832"/>
            <a:ext cx="27432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EDDA3"/>
                </a:solidFill>
                <a:latin typeface="Aptos"/>
              </a:rPr>
              <a:t>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709160"/>
            <a:ext cx="283464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F2F6FF"/>
                </a:solidFill>
                <a:latin typeface="Aptos"/>
              </a:rPr>
              <a:t>Tests, coverage, transparency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80760"/>
            <a:ext cx="1042416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2F6FF"/>
                </a:solidFill>
                <a:latin typeface="Aptos"/>
              </a:rPr>
              <a:t>CPU-Z identifies your hardware. HW Intel explains, visualizes, and exposes it—with an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1245</Words>
  <Application>Microsoft Office PowerPoint</Application>
  <PresentationFormat>Widescreen</PresentationFormat>
  <Paragraphs>207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Kailash Somu</cp:lastModifiedBy>
  <cp:revision>5</cp:revision>
  <dcterms:created xsi:type="dcterms:W3CDTF">2013-01-27T09:14:16Z</dcterms:created>
  <dcterms:modified xsi:type="dcterms:W3CDTF">2026-10-22T05:56:21Z</dcterms:modified>
  <cp:category/>
</cp:coreProperties>
</file>