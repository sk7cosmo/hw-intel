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469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640080"/>
            <a:ext cx="1920240" cy="1920240"/>
          </a:xfrm>
          <a:prstGeom prst="ellipse">
            <a:avLst/>
          </a:prstGeom>
          <a:solidFill>
            <a:srgbClr val="112A41"/>
          </a:solidFill>
          <a:ln>
            <a:solidFill>
              <a:srgbClr val="11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828800"/>
            <a:ext cx="1280160" cy="1280160"/>
          </a:xfrm>
          <a:prstGeom prst="ellipse">
            <a:avLst/>
          </a:prstGeom>
          <a:solidFill>
            <a:srgbClr val="172549"/>
          </a:solidFill>
          <a:ln>
            <a:solidFill>
              <a:srgbClr val="172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3200400"/>
            <a:ext cx="2377440" cy="2377440"/>
          </a:xfrm>
          <a:prstGeom prst="ellipse">
            <a:avLst/>
          </a:prstGeom>
          <a:solidFill>
            <a:srgbClr val="0F2136"/>
          </a:solidFill>
          <a:ln>
            <a:solidFill>
              <a:srgbClr val="0F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FDAE8"/>
                </a:solidFill>
                <a:latin typeface="Aptos"/>
              </a:rPr>
              <a:t>ENGINEERING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2F6FF"/>
                </a:solidFill>
                <a:latin typeface="Aptos"/>
              </a:rPr>
              <a:t>CPU-Z → HW Intel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58368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A0AEC6"/>
                </a:solidFill>
                <a:latin typeface="Aptos"/>
              </a:rPr>
              <a:t>From hardware identification to an interactive hardware intelligence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4389120" cy="64008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995928"/>
            <a:ext cx="3931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F6FF"/>
                </a:solidFill>
                <a:latin typeface="Aptos"/>
              </a:rPr>
              <a:t>REA  +  Ghidra  +  Antigravity 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897880"/>
            <a:ext cx="7315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Architecture • Evidence-led reverse engineering • Modern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035040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3FDAE8"/>
                </a:solidFill>
                <a:latin typeface="Aptos"/>
              </a:rP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FDAE8"/>
                </a:solidFill>
                <a:latin typeface="Aptos"/>
              </a:rP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2F6FF"/>
                </a:solidFill>
                <a:latin typeface="Aptos"/>
              </a:rPr>
              <a:t>What this project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A structured path from understanding the original application to validating a modern replacement.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972800" cy="13716"/>
          </a:xfrm>
          <a:prstGeom prst="rect">
            <a:avLst/>
          </a:prstGeom>
          <a:solidFill>
            <a:srgbClr val="313F59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AEC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0AEC6"/>
                </a:solidFill>
                <a:latin typeface="Aptos"/>
              </a:rPr>
              <a:t>HW INTEL  •  CPU-Z MODERNIZATION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57800" cy="749808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48840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3FDAE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084831"/>
            <a:ext cx="4251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F6FF"/>
                </a:solidFill>
                <a:latin typeface="Aptos"/>
              </a:rPr>
              <a:t>Reverse Engineer Anything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377440"/>
            <a:ext cx="4251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The REA toolkit and its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257800" cy="749808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2148840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3FDAE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2084831"/>
            <a:ext cx="4251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F6FF"/>
                </a:solidFill>
                <a:latin typeface="Aptos"/>
              </a:rPr>
              <a:t>Ghidra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2377440"/>
            <a:ext cx="4251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Static analysis and decompilation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257800" cy="749808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108960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3FDAE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044952"/>
            <a:ext cx="4251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F6FF"/>
                </a:solidFill>
                <a:latin typeface="Aptos"/>
              </a:rPr>
              <a:t>How REA supports modernization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337560"/>
            <a:ext cx="4251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Trace behaviour → document evidence → implement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926080"/>
            <a:ext cx="5257800" cy="749808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3108960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3FDAE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3044952"/>
            <a:ext cx="4251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F6FF"/>
                </a:solidFill>
                <a:latin typeface="Aptos"/>
              </a:rPr>
              <a:t>CPU-Z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3337560"/>
            <a:ext cx="4251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What the original application provides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86200"/>
            <a:ext cx="5257800" cy="749808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069080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3FDAE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005072"/>
            <a:ext cx="4251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F6FF"/>
                </a:solidFill>
                <a:latin typeface="Aptos"/>
              </a:rPr>
              <a:t>Modernization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4297680"/>
            <a:ext cx="4251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Scope, guardrails, and deliverables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886200"/>
            <a:ext cx="5257800" cy="749808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9672" y="4069080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3FDAE8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4005072"/>
            <a:ext cx="4251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F6FF"/>
                </a:solidFill>
                <a:latin typeface="Aptos"/>
              </a:rPr>
              <a:t>Agentic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4297680"/>
            <a:ext cx="4251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Antigravity IDE, Claude Sonnet 4.6, REA MCP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846320"/>
            <a:ext cx="5257800" cy="749808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5029200"/>
            <a:ext cx="4389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3FDAE8"/>
                </a:solidFill>
                <a:latin typeface="Apto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4752" y="4965192"/>
            <a:ext cx="42519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F6FF"/>
                </a:solidFill>
                <a:latin typeface="Aptos"/>
              </a:rPr>
              <a:t>Before vs. 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5257800"/>
            <a:ext cx="4251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The HW Intel experience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053328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F6FF"/>
                </a:solidFill>
                <a:latin typeface="Aptos"/>
              </a:rPr>
              <a:t>Outcome: a testable, transparent hardware dashboard—not just a visual reskin.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FDAE8"/>
                </a:solidFill>
                <a:latin typeface="Aptos"/>
              </a:rPr>
              <a:t>02 /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2F6FF"/>
                </a:solidFill>
                <a:latin typeface="Aptos"/>
              </a:rPr>
              <a:t>Reverse Engineer Anything (REA)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An agent-oriented toolkit for investigating software behaviour through structured reverse-engineering tools.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972800" cy="13716"/>
          </a:xfrm>
          <a:prstGeom prst="rect">
            <a:avLst/>
          </a:prstGeom>
          <a:solidFill>
            <a:srgbClr val="313F59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AEC6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0AEC6"/>
                </a:solidFill>
                <a:latin typeface="Aptos"/>
              </a:rPr>
              <a:t>HW INTEL  •  CPU-Z MODERNIZATION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258568"/>
            <a:ext cx="41148" cy="1014984"/>
          </a:xfrm>
          <a:prstGeom prst="rect">
            <a:avLst/>
          </a:prstGeom>
          <a:solidFill>
            <a:srgbClr val="3FDAE8"/>
          </a:solidFill>
          <a:ln>
            <a:solidFill>
              <a:srgbClr val="3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258568"/>
            <a:ext cx="2880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What it contributes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97480"/>
            <a:ext cx="286207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0AEC6"/>
                </a:solidFill>
                <a:latin typeface="Aptos"/>
              </a:rPr>
              <a:t>Connects an AI coding agent to reverse-engineering capabilities through tools and MCP.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53712" y="2258568"/>
            <a:ext cx="41148" cy="1014984"/>
          </a:xfrm>
          <a:prstGeom prst="rect">
            <a:avLst/>
          </a:prstGeom>
          <a:solidFill>
            <a:srgbClr val="5780FF"/>
          </a:solidFill>
          <a:ln>
            <a:solidFill>
              <a:srgbClr val="5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258568"/>
            <a:ext cx="2880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697480"/>
            <a:ext cx="286207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0AEC6"/>
                </a:solidFill>
                <a:latin typeface="Aptos"/>
              </a:rPr>
              <a:t>Lets the agent investigate functions, references, and program behaviour instead of guessing from the 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258568"/>
            <a:ext cx="41148" cy="1014984"/>
          </a:xfrm>
          <a:prstGeom prst="rect">
            <a:avLst/>
          </a:prstGeom>
          <a:solidFill>
            <a:srgbClr val="9E71FF"/>
          </a:solidFill>
          <a:ln>
            <a:solidFill>
              <a:srgbClr val="9E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258568"/>
            <a:ext cx="2880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Project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697480"/>
            <a:ext cx="286207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0AEC6"/>
                </a:solidFill>
                <a:latin typeface="Aptos"/>
              </a:rPr>
              <a:t>Use REA findings to guide the modernization; preserve evidence and uncertainty in research files.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3FDAE8"/>
                </a:solidFill>
                <a:latin typeface="Aptos"/>
              </a:rPr>
              <a:t>Key principle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996696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2F6FF"/>
                </a:solidFill>
                <a:latin typeface="Aptos"/>
              </a:rPr>
              <a:t>REA accelerates investigation. Its output still needs verification in Ghidra and validation against real behaviour.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FDAE8"/>
                </a:solidFill>
                <a:latin typeface="Aptos"/>
              </a:rPr>
              <a:t>03 /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2F6FF"/>
                </a:solidFill>
                <a:latin typeface="Aptos"/>
              </a:rPr>
              <a:t>Ghidra: inspect the program, not just its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A reverse-engineering framework for disassembly, decompilation, cross-references, and program 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972800" cy="13716"/>
          </a:xfrm>
          <a:prstGeom prst="rect">
            <a:avLst/>
          </a:prstGeom>
          <a:solidFill>
            <a:srgbClr val="313F59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AEC6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0AEC6"/>
                </a:solidFill>
                <a:latin typeface="Aptos"/>
              </a:rPr>
              <a:t>HW INTEL  •  CPU-Z MODERNIZATION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2468880" cy="182880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3FDAE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2057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Load binary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20574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0AEC6"/>
                </a:solidFill>
                <a:latin typeface="Aptos"/>
              </a:rPr>
              <a:t>Import the executable and analyse its architecture.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2971800"/>
            <a:ext cx="2743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5780F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286000"/>
            <a:ext cx="2468880" cy="182880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2487168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3FDAE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971800"/>
            <a:ext cx="2057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Navigate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383280"/>
            <a:ext cx="20574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0AEC6"/>
                </a:solidFill>
                <a:latin typeface="Aptos"/>
              </a:rPr>
              <a:t>Find functions, strings, references, and relevant call paths.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5624" y="2971800"/>
            <a:ext cx="2743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5780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286000"/>
            <a:ext cx="2468880" cy="182880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2487168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3FDAE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971800"/>
            <a:ext cx="2057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Trace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383280"/>
            <a:ext cx="20574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0AEC6"/>
                </a:solidFill>
                <a:latin typeface="Aptos"/>
              </a:rPr>
              <a:t>Follow inputs, transformations, constants, and output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3" y="2971800"/>
            <a:ext cx="2743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5780FF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286000"/>
            <a:ext cx="2468880" cy="182880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64040" y="2487168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3FDAE8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971800"/>
            <a:ext cx="2057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383280"/>
            <a:ext cx="20574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0AEC6"/>
                </a:solidFill>
                <a:latin typeface="Aptos"/>
              </a:rPr>
              <a:t>Compare evidence with observed behaviour and record confidence.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09160"/>
            <a:ext cx="10698480" cy="713232"/>
          </a:xfrm>
          <a:prstGeom prst="roundRect">
            <a:avLst>
              <a:gd name="adj" fmla="val 12000"/>
            </a:avLst>
          </a:prstGeom>
          <a:solidFill>
            <a:srgbClr val="1E2034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928616"/>
            <a:ext cx="10241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BF5C"/>
                </a:solidFill>
                <a:latin typeface="Aptos"/>
              </a:rPr>
              <a:t>Do not infer a formula from a plausible result. Trace the implementation or mark the field unknown.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FDAE8"/>
                </a:solidFill>
                <a:latin typeface="Aptos"/>
              </a:rPr>
              <a:t>04 /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2F6FF"/>
                </a:solidFill>
                <a:latin typeface="Aptos"/>
              </a:rPr>
              <a:t>How REA + Ghidra drive modernization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A repeatable evidence-first workflow for understanding and rebuilding selected capabilities.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972800" cy="13716"/>
          </a:xfrm>
          <a:prstGeom prst="rect">
            <a:avLst/>
          </a:prstGeom>
          <a:solidFill>
            <a:srgbClr val="313F59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AEC6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0AEC6"/>
                </a:solidFill>
                <a:latin typeface="Aptos"/>
              </a:rPr>
              <a:t>HW INTEL  •  CPU-Z MODERNIZATION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877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FDAE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71216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F6FF"/>
                </a:solidFill>
                <a:latin typeface="Aptos"/>
              </a:rPr>
              <a:t>Investigate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27832"/>
            <a:ext cx="1783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REA locates relevant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852928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5780F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242316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9232" y="25877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FDAE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871216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F6FF"/>
                </a:solidFill>
                <a:latin typeface="Aptos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227832"/>
            <a:ext cx="1783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Ghidra reveals code paths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2852928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5780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1224" y="242316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58384" y="25877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FDAE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2871216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F6FF"/>
                </a:solidFill>
                <a:latin typeface="Aptos"/>
              </a:rPr>
              <a:t>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227832"/>
            <a:ext cx="1783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Evidence ledger captures facts and unknowns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2852928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5780FF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0376" y="242316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17536" y="25877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FDAE8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2871216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F6FF"/>
                </a:solidFill>
                <a:latin typeface="Aptos"/>
              </a:rPr>
              <a:t>Implement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7536" y="3227832"/>
            <a:ext cx="1783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Build a clean, separate provider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8" y="2852928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5780FF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9528" y="2423160"/>
            <a:ext cx="2057400" cy="123444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76688" y="25877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FDAE8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2871216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F6FF"/>
                </a:solidFill>
                <a:latin typeface="Aptos"/>
              </a:rPr>
              <a:t>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3227832"/>
            <a:ext cx="17830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0AEC6"/>
                </a:solidFill>
                <a:latin typeface="Aptos"/>
              </a:rPr>
              <a:t>Compare outputs and test the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4340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3FDAE8"/>
                </a:solidFill>
                <a:latin typeface="Aptos"/>
              </a:rPr>
              <a:t>Evidence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09160"/>
            <a:ext cx="1051560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2F6FF"/>
                </a:solidFill>
                <a:latin typeface="Aptos"/>
              </a:rPr>
              <a:t>If a field’s detection method or calculation is unknown, document it in research/data-access-strategy.md. Never invent a formula or claim equivalence without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FDAE8"/>
                </a:solidFill>
                <a:latin typeface="Aptos"/>
              </a:rPr>
              <a:t>05 /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2F6FF"/>
                </a:solidFill>
                <a:latin typeface="Aptos"/>
              </a:rPr>
              <a:t>CPU-Z: the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A focused Windows utility for identifying processor, cache, motherboard, memory, SPD, and graphics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972800" cy="13716"/>
          </a:xfrm>
          <a:prstGeom prst="rect">
            <a:avLst/>
          </a:prstGeom>
          <a:solidFill>
            <a:srgbClr val="313F59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AEC6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0AEC6"/>
                </a:solidFill>
                <a:latin typeface="Aptos"/>
              </a:rPr>
              <a:t>HW INTEL  •  CPU-Z MODERNIZATION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103120"/>
            <a:ext cx="5074920" cy="100584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91072" y="2304288"/>
            <a:ext cx="41148" cy="603504"/>
          </a:xfrm>
          <a:prstGeom prst="rect">
            <a:avLst/>
          </a:prstGeom>
          <a:solidFill>
            <a:srgbClr val="3FDAE8"/>
          </a:solidFill>
          <a:ln>
            <a:solidFill>
              <a:srgbClr val="3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2" y="2304288"/>
            <a:ext cx="4526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Strength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2743200"/>
            <a:ext cx="4507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Compact, familiar hardware identification and specification views.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3381950"/>
            <a:ext cx="5074920" cy="100584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91072" y="3538728"/>
            <a:ext cx="41148" cy="603504"/>
          </a:xfrm>
          <a:prstGeom prst="rect">
            <a:avLst/>
          </a:prstGeom>
          <a:solidFill>
            <a:srgbClr val="5780FF"/>
          </a:solidFill>
          <a:ln>
            <a:solidFill>
              <a:srgbClr val="5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73952" y="3538728"/>
            <a:ext cx="4526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Modernization opportunity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3977639"/>
            <a:ext cx="45079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A0AEC6"/>
                </a:solidFill>
                <a:latin typeface="Aptos"/>
              </a:rPr>
              <a:t>Improve information hierarchy, discoverability, accessibility, visualization, and programmatic access.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4616390"/>
            <a:ext cx="5074920" cy="100584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91072" y="4773168"/>
            <a:ext cx="41148" cy="420624"/>
          </a:xfrm>
          <a:prstGeom prst="rect">
            <a:avLst/>
          </a:prstGeom>
          <a:solidFill>
            <a:srgbClr val="FFBF5C"/>
          </a:solidFill>
          <a:ln>
            <a:solidFill>
              <a:srgbClr val="FFB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73952" y="4773168"/>
            <a:ext cx="4526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Guardrail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5212080"/>
            <a:ext cx="4507992" cy="45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0AEC6"/>
                </a:solidFill>
                <a:latin typeface="Aptos"/>
              </a:rPr>
              <a:t>Keep the original executable unchanged; build and validate a separate application.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D08A364-B586-E008-7442-EF2DE39B7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78" y="1939059"/>
            <a:ext cx="3701380" cy="37966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FDAE8"/>
                </a:solidFill>
                <a:latin typeface="Aptos"/>
              </a:rPr>
              <a:t>06 /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2F6FF"/>
                </a:solidFill>
                <a:latin typeface="Aptos"/>
              </a:rPr>
              <a:t>The modernization prompt: concise gist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The prompt directs the agent to investigate first, build second, and verify before making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972800" cy="13716"/>
          </a:xfrm>
          <a:prstGeom prst="rect">
            <a:avLst/>
          </a:prstGeom>
          <a:solidFill>
            <a:srgbClr val="313F59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AEC6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0AEC6"/>
                </a:solidFill>
                <a:latin typeface="Aptos"/>
              </a:rPr>
              <a:t>HW INTEL  •  CPU-Z MODERNIZATION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10652760" cy="59436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130552"/>
            <a:ext cx="1371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3FDAE8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130552"/>
            <a:ext cx="8641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2F6FF"/>
                </a:solidFill>
                <a:latin typeface="Aptos"/>
              </a:rPr>
              <a:t>Identify the installed version, dependencies, environment, and available REA/Ghidra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24912"/>
            <a:ext cx="10652760" cy="59436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889504"/>
            <a:ext cx="1371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3FDAE8"/>
                </a:solidFill>
                <a:latin typeface="Aptos"/>
              </a:rPr>
              <a:t>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889504"/>
            <a:ext cx="8641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2F6FF"/>
                </a:solidFill>
                <a:latin typeface="Aptos"/>
              </a:rPr>
              <a:t>Investigate CPU-Z’s real detection paths, calculations, units, and output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83863"/>
            <a:ext cx="10652760" cy="59436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648456"/>
            <a:ext cx="1371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3FDAE8"/>
                </a:solidFill>
                <a:latin typeface="Aptos"/>
              </a:rPr>
              <a:t>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648456"/>
            <a:ext cx="8641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2F6FF"/>
                </a:solidFill>
                <a:latin typeface="Aptos"/>
              </a:rPr>
              <a:t>Maintain an evidence ledger, data-access strategy, and field-level coverage matrix.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42816"/>
            <a:ext cx="10652760" cy="59436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407407"/>
            <a:ext cx="1371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3FDAE8"/>
                </a:solidFill>
                <a:latin typeface="Aptos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407407"/>
            <a:ext cx="8641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2F6FF"/>
                </a:solidFill>
                <a:latin typeface="Aptos"/>
              </a:rPr>
              <a:t>Create a separate layered backend + responsive dashboard with honest unavailable states.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01768"/>
            <a:ext cx="10652760" cy="59436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5166359"/>
            <a:ext cx="1371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3FDAE8"/>
                </a:solidFill>
                <a:latin typeface="Aptos"/>
              </a:rPr>
              <a:t>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5166359"/>
            <a:ext cx="8641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2F6FF"/>
                </a:solidFill>
                <a:latin typeface="Aptos"/>
              </a:rPr>
              <a:t>Run tests, inspect the UI, compare fields with CPU-Z, and document unresolved gaps.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515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BF5C"/>
                </a:solidFill>
                <a:latin typeface="Aptos"/>
              </a:rPr>
              <a:t>Non-negotiable: never assume a field formula. Unknown methods must be documented in research/data-access-strategy.md.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FDAE8"/>
                </a:solidFill>
                <a:latin typeface="Aptos"/>
              </a:rPr>
              <a:t>07 /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2F6FF"/>
                </a:solidFill>
                <a:latin typeface="Aptos"/>
              </a:rPr>
              <a:t>Agentic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The tools and roles used to coordinate investigation, implementation, and validation.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972800" cy="13716"/>
          </a:xfrm>
          <a:prstGeom prst="rect">
            <a:avLst/>
          </a:prstGeom>
          <a:solidFill>
            <a:srgbClr val="313F59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AEC6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0AEC6"/>
                </a:solidFill>
                <a:latin typeface="Aptos"/>
              </a:rPr>
              <a:t>HW INTEL  •  CPU-Z MODERNIZATION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10561320" cy="749808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2157984"/>
            <a:ext cx="73152" cy="457200"/>
          </a:xfrm>
          <a:prstGeom prst="roundRect">
            <a:avLst>
              <a:gd name="adj" fmla="val 12000"/>
            </a:avLst>
          </a:prstGeom>
          <a:solidFill>
            <a:srgbClr val="3FDAE8"/>
          </a:solidFill>
          <a:ln>
            <a:solidFill>
              <a:srgbClr val="3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61872" y="2121408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3FDAE8"/>
                </a:solidFill>
                <a:latin typeface="Aptos"/>
              </a:rPr>
              <a:t>CODING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21408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F6FF"/>
                </a:solidFill>
                <a:latin typeface="Aptos"/>
              </a:rPr>
              <a:t>Antigravity 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9696"/>
            <a:ext cx="46634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0AEC6"/>
                </a:solidFill>
                <a:latin typeface="Aptos"/>
              </a:rPr>
              <a:t>Coordinates project work, edits files, runs commands, and iterates on implementation.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44368"/>
            <a:ext cx="10561320" cy="749808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7552" y="3090672"/>
            <a:ext cx="73152" cy="457200"/>
          </a:xfrm>
          <a:prstGeom prst="roundRect">
            <a:avLst>
              <a:gd name="adj" fmla="val 12000"/>
            </a:avLst>
          </a:prstGeom>
          <a:solidFill>
            <a:srgbClr val="5780FF"/>
          </a:solidFill>
          <a:ln>
            <a:solidFill>
              <a:srgbClr val="5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3054096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780FF"/>
                </a:solidFill>
                <a:latin typeface="Apto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054096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F6FF"/>
                </a:solidFill>
                <a:latin typeface="Aptos"/>
              </a:rPr>
              <a:t>Claude Sonnet 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72384"/>
            <a:ext cx="46634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0AEC6"/>
                </a:solidFill>
                <a:latin typeface="Aptos"/>
              </a:rPr>
              <a:t>Reasoning and coding model selected for the agent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77056"/>
            <a:ext cx="10561320" cy="749808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7552" y="4023360"/>
            <a:ext cx="73152" cy="457200"/>
          </a:xfrm>
          <a:prstGeom prst="roundRect">
            <a:avLst>
              <a:gd name="adj" fmla="val 12000"/>
            </a:avLst>
          </a:prstGeom>
          <a:solidFill>
            <a:srgbClr val="9E71FF"/>
          </a:solidFill>
          <a:ln>
            <a:solidFill>
              <a:srgbClr val="9E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1872" y="3986784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9E71FF"/>
                </a:solidFill>
                <a:latin typeface="Aptos"/>
              </a:rPr>
              <a:t>REVERSE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986784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F6FF"/>
                </a:solidFill>
                <a:latin typeface="Aptos"/>
              </a:rPr>
              <a:t>REA registered as MCP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05072"/>
            <a:ext cx="46634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0AEC6"/>
                </a:solidFill>
                <a:latin typeface="Aptos"/>
              </a:rPr>
              <a:t>Exposes REA capabilities to the coding agent through the MCP integration.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09744"/>
            <a:ext cx="10561320" cy="749808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87552" y="4956048"/>
            <a:ext cx="73152" cy="457200"/>
          </a:xfrm>
          <a:prstGeom prst="roundRect">
            <a:avLst>
              <a:gd name="adj" fmla="val 12000"/>
            </a:avLst>
          </a:prstGeom>
          <a:solidFill>
            <a:srgbClr val="4EDDA3"/>
          </a:solidFill>
          <a:ln>
            <a:solidFill>
              <a:srgbClr val="4ED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61872" y="4919472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4EDDA3"/>
                </a:solidFill>
                <a:latin typeface="Aptos"/>
              </a:rPr>
              <a:t>ANALYSIS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919472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F6FF"/>
                </a:solidFill>
                <a:latin typeface="Aptos"/>
              </a:rPr>
              <a:t>Ghidra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37759"/>
            <a:ext cx="46634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0AEC6"/>
                </a:solidFill>
                <a:latin typeface="Aptos"/>
              </a:rPr>
              <a:t>Binary analysis, decompilation, cross-reference inspection, and evidence gathering.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FDAE8"/>
                </a:solidFill>
                <a:latin typeface="Aptos"/>
              </a:rPr>
              <a:t>08 /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2F6FF"/>
                </a:solidFill>
                <a:latin typeface="Aptos"/>
              </a:rPr>
              <a:t>Traditional CPU-Z vs. HW Intel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The aim is not only a visual reskin: it is a more discoverable, testable, and transparent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972800" cy="13716"/>
          </a:xfrm>
          <a:prstGeom prst="rect">
            <a:avLst/>
          </a:prstGeom>
          <a:solidFill>
            <a:srgbClr val="313F59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AEC6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0AEC6"/>
                </a:solidFill>
                <a:latin typeface="Aptos"/>
              </a:rPr>
              <a:t>HW INTEL  •  CPU-Z MODERNIZATION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93392"/>
            <a:ext cx="5166360" cy="4114800"/>
          </a:xfrm>
          <a:prstGeom prst="roundRect">
            <a:avLst>
              <a:gd name="adj" fmla="val 12000"/>
            </a:avLst>
          </a:prstGeom>
          <a:solidFill>
            <a:srgbClr val="181E2C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993392"/>
            <a:ext cx="5212080" cy="4114800"/>
          </a:xfrm>
          <a:prstGeom prst="roundRect">
            <a:avLst>
              <a:gd name="adj" fmla="val 12000"/>
            </a:avLst>
          </a:prstGeom>
          <a:solidFill>
            <a:srgbClr val="101F30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A0AEC6"/>
                </a:solidFill>
                <a:latin typeface="Aptos"/>
              </a:rPr>
              <a:t>TRADITIONAL CPU-Z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3FDAE8"/>
                </a:solidFill>
                <a:latin typeface="Aptos"/>
              </a:rPr>
              <a:t>HW INTEL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Win32 tabbed dialog; fixed-size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Plain labels and static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93008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Six fixed tabs; no global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77056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TXT / HTML report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61104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Manual refresh (F5)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45152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Limited documented programmatic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Field sources and limitations less visible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13248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Manual validation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24912"/>
            <a:ext cx="4617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Dark-first responsive web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08960"/>
            <a:ext cx="4617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Metric cards, SVG gauges, topology &amp; cache visuals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93008"/>
            <a:ext cx="4617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Sidebar navigation and global field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77056"/>
            <a:ext cx="4617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One-click JSON and CSV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61104"/>
            <a:ext cx="4617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Background polling for supported live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45152"/>
            <a:ext cx="4617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Documented REST API and OpenAPI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29200"/>
            <a:ext cx="4617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Source, units, availability and limitations shown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413248"/>
            <a:ext cx="4617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6FF"/>
                </a:solidFill>
                <a:latin typeface="Aptos"/>
              </a:rPr>
              <a:t>• Automated tests and repeatable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199632"/>
            <a:ext cx="10698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F6FF"/>
                </a:solidFill>
                <a:latin typeface="Aptos"/>
              </a:rPr>
              <a:t>CPU-Z identifies your hardware. HW Intel explains, visualizes, and exposes it—with an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FDAE8"/>
                </a:solidFill>
                <a:latin typeface="Aptos"/>
              </a:rPr>
              <a:t>09 / PRODUCT VISUALS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2F6FF"/>
                </a:solidFill>
                <a:latin typeface="Aptos"/>
              </a:rPr>
              <a:t>HW Intel — dashboard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Illustrative layout only. Replace these concept mockups with screenshots captured from the running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972800" cy="13716"/>
          </a:xfrm>
          <a:prstGeom prst="rect">
            <a:avLst/>
          </a:prstGeom>
          <a:solidFill>
            <a:srgbClr val="313F59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AEC6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0AEC6"/>
                </a:solidFill>
                <a:latin typeface="Aptos"/>
              </a:rPr>
              <a:t>HW INTEL  •  CPU-Z MODERNIZATION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26679" y="214884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891271" y="2350008"/>
            <a:ext cx="41148" cy="557784"/>
          </a:xfrm>
          <a:prstGeom prst="rect">
            <a:avLst/>
          </a:prstGeom>
          <a:solidFill>
            <a:srgbClr val="3FDAE8"/>
          </a:solidFill>
          <a:ln>
            <a:solidFill>
              <a:srgbClr val="3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74152" y="2350008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Overview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74152" y="2788920"/>
            <a:ext cx="29992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0AEC6"/>
                </a:solidFill>
                <a:latin typeface="Aptos"/>
              </a:rPr>
              <a:t>At-a-glance hardware profile and key metrics.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26679" y="333756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891271" y="3538728"/>
            <a:ext cx="41148" cy="557784"/>
          </a:xfrm>
          <a:prstGeom prst="rect">
            <a:avLst/>
          </a:prstGeom>
          <a:solidFill>
            <a:srgbClr val="5780FF"/>
          </a:solidFill>
          <a:ln>
            <a:solidFill>
              <a:srgbClr val="5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74152" y="3538728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Visual hierarchy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74152" y="3977639"/>
            <a:ext cx="29992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0AEC6"/>
                </a:solidFill>
                <a:latin typeface="Aptos"/>
              </a:rPr>
              <a:t>Distinct sections, clear labels, and readable technical detail.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26679" y="452628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891271" y="4727448"/>
            <a:ext cx="41148" cy="557784"/>
          </a:xfrm>
          <a:prstGeom prst="rect">
            <a:avLst/>
          </a:prstGeom>
          <a:solidFill>
            <a:srgbClr val="FFBF5C"/>
          </a:solidFill>
          <a:ln>
            <a:solidFill>
              <a:srgbClr val="FFB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74152" y="4727448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 dirty="0">
                <a:solidFill>
                  <a:srgbClr val="F2F6FF"/>
                </a:solidFill>
                <a:latin typeface="Aptos"/>
              </a:rPr>
              <a:t>Honest data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74152" y="5166360"/>
            <a:ext cx="29992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0AEC6"/>
                </a:solidFill>
                <a:latin typeface="Aptos"/>
              </a:rPr>
              <a:t>Only verified values; unavailable fields are explicitly marked.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867959E3-1133-148A-DCF8-A18584F19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62" y="1896608"/>
            <a:ext cx="6080808" cy="41414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FDAE8"/>
                </a:solidFill>
                <a:latin typeface="Aptos"/>
              </a:rPr>
              <a:t>09 / PRODUCT VISUALS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2F6FF"/>
                </a:solidFill>
                <a:latin typeface="Aptos"/>
              </a:rPr>
              <a:t>Explore the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238" y="1115393"/>
            <a:ext cx="10972800" cy="13716"/>
          </a:xfrm>
          <a:prstGeom prst="rect">
            <a:avLst/>
          </a:prstGeom>
          <a:solidFill>
            <a:srgbClr val="313F59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AEC6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0AEC6"/>
                </a:solidFill>
                <a:latin typeface="Aptos"/>
              </a:rPr>
              <a:t>HW INTEL  •  CPU-Z MODERNIZATION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586956" y="6123373"/>
            <a:ext cx="228600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3FDAE8"/>
                </a:solidFill>
                <a:latin typeface="Aptos"/>
              </a:rPr>
              <a:t>CPU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22564" y="6132256"/>
            <a:ext cx="2286000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9E71FF"/>
                </a:solidFill>
                <a:latin typeface="Aptos"/>
              </a:rPr>
              <a:t>Memory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C79A1060-C14C-65D2-03E6-A940A27C0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42" y="1220111"/>
            <a:ext cx="5040791" cy="46841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DE3310D6-555C-42F1-1CB3-8E82A0C0F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19" y="1228995"/>
            <a:ext cx="6095364" cy="46841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FDAE8"/>
                </a:solidFill>
                <a:latin typeface="Aptos"/>
              </a:rPr>
              <a:t>10 /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2F6FF"/>
                </a:solidFill>
                <a:latin typeface="Aptos"/>
              </a:rPr>
              <a:t>Accuracy is a product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0AEC6"/>
                </a:solidFill>
                <a:latin typeface="Aptos"/>
              </a:rPr>
              <a:t>A modern interface is only valuable when the underlying values are trustworthy.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0972800" cy="13716"/>
          </a:xfrm>
          <a:prstGeom prst="rect">
            <a:avLst/>
          </a:prstGeom>
          <a:solidFill>
            <a:srgbClr val="313F59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0AEC6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A0AEC6"/>
                </a:solidFill>
                <a:latin typeface="Aptos"/>
              </a:rPr>
              <a:t>HW INTEL  •  CPU-Z MODERNIZATION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258568"/>
            <a:ext cx="41148" cy="1014984"/>
          </a:xfrm>
          <a:prstGeom prst="rect">
            <a:avLst/>
          </a:prstGeom>
          <a:solidFill>
            <a:srgbClr val="3FDAE8"/>
          </a:solidFill>
          <a:ln>
            <a:solidFill>
              <a:srgbClr val="3F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258568"/>
            <a:ext cx="2880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Evidence-first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97480"/>
            <a:ext cx="286207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0AEC6"/>
                </a:solidFill>
                <a:latin typeface="Aptos"/>
              </a:rPr>
              <a:t>Trace fields through REA/Ghidra and record the supporting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53712" y="2258568"/>
            <a:ext cx="41148" cy="1014984"/>
          </a:xfrm>
          <a:prstGeom prst="rect">
            <a:avLst/>
          </a:prstGeom>
          <a:solidFill>
            <a:srgbClr val="FFBF5C"/>
          </a:solidFill>
          <a:ln>
            <a:solidFill>
              <a:srgbClr val="FFB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258568"/>
            <a:ext cx="2880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No guessed formulas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697480"/>
            <a:ext cx="286207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0AEC6"/>
                </a:solidFill>
                <a:latin typeface="Aptos"/>
              </a:rPr>
              <a:t>Unknown calculation methods stay documented as unknown—not silently approximated.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258568"/>
            <a:ext cx="41148" cy="1014984"/>
          </a:xfrm>
          <a:prstGeom prst="rect">
            <a:avLst/>
          </a:prstGeom>
          <a:solidFill>
            <a:srgbClr val="4EDDA3"/>
          </a:solidFill>
          <a:ln>
            <a:solidFill>
              <a:srgbClr val="4ED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258568"/>
            <a:ext cx="2880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6FF"/>
                </a:solidFill>
                <a:latin typeface="Aptos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697480"/>
            <a:ext cx="2862072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0AEC6"/>
                </a:solidFill>
                <a:latin typeface="Aptos"/>
              </a:rPr>
              <a:t>Compare outputs with CPU-Z on the same machine where practical.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3FDAE8"/>
                </a:solidFill>
                <a:latin typeface="Aptos"/>
              </a:rPr>
              <a:t>Definition of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10241280" cy="1508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2F6FF"/>
                </a:solidFill>
                <a:latin typeface="Aptos"/>
              </a:defRPr>
            </a:pPr>
            <a:r>
              <a:t>Application launches reliably and core sections work.</a:t>
            </a:r>
          </a:p>
          <a:p>
            <a:pPr>
              <a:spcAft>
                <a:spcPts val="500"/>
              </a:spcAft>
              <a:defRPr sz="1300">
                <a:solidFill>
                  <a:srgbClr val="F2F6FF"/>
                </a:solidFill>
                <a:latin typeface="Aptos"/>
              </a:defRPr>
            </a:pPr>
            <a:r>
              <a:t>Implemented fields use real providers and explicit units/status.</a:t>
            </a:r>
          </a:p>
          <a:p>
            <a:pPr>
              <a:spcAft>
                <a:spcPts val="500"/>
              </a:spcAft>
              <a:defRPr sz="1300">
                <a:solidFill>
                  <a:srgbClr val="F2F6FF"/>
                </a:solidFill>
                <a:latin typeface="Aptos"/>
              </a:defRPr>
            </a:pPr>
            <a:r>
              <a:t>Automated tests pass or remaining failures are documented.</a:t>
            </a:r>
          </a:p>
          <a:p>
            <a:pPr>
              <a:spcAft>
                <a:spcPts val="500"/>
              </a:spcAft>
              <a:defRPr sz="1300">
                <a:solidFill>
                  <a:srgbClr val="F2F6FF"/>
                </a:solidFill>
                <a:latin typeface="Aptos"/>
              </a:defRPr>
            </a:pPr>
            <a:r>
              <a:t>Coverage matrix distinguishes verified, partial, unsupported, and unknown fields.</a:t>
            </a:r>
          </a:p>
          <a:p>
            <a:pPr>
              <a:spcAft>
                <a:spcPts val="500"/>
              </a:spcAft>
              <a:defRPr sz="1300">
                <a:solidFill>
                  <a:srgbClr val="F2F6FF"/>
                </a:solidFill>
                <a:latin typeface="Aptos"/>
              </a:defRPr>
            </a:pPr>
            <a:r>
              <a:t>Original CPU-Z executable remains unchanged.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3152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FDAE8"/>
                </a:solidFill>
                <a:latin typeface="Aptos"/>
              </a:rPr>
              <a:t>THE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784080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F2F6FF"/>
                </a:solidFill>
                <a:latin typeface="Aptos"/>
              </a:rPr>
              <a:t>From a hardware utility
to a hardware intelligence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89611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A0AEC6"/>
                </a:solidFill>
                <a:latin typeface="Aptos"/>
              </a:rPr>
              <a:t>Investigate accurately. Visualize clearly. Expose data responsibly.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370832"/>
            <a:ext cx="2743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3FDAE8"/>
                </a:solidFill>
                <a:latin typeface="Aptos"/>
              </a:rP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28346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2F6FF"/>
                </a:solidFill>
                <a:latin typeface="Aptos"/>
              </a:rPr>
              <a:t>REA + Ghidra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4370832"/>
            <a:ext cx="2743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5780FF"/>
                </a:solidFill>
                <a:latin typeface="Aptos"/>
              </a:rPr>
              <a:t>MODERNIZE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709160"/>
            <a:ext cx="28346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2F6FF"/>
                </a:solidFill>
                <a:latin typeface="Aptos"/>
              </a:rPr>
              <a:t>Responsive visual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141C2F"/>
          </a:solidFill>
          <a:ln>
            <a:solidFill>
              <a:srgbClr val="31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4370832"/>
            <a:ext cx="2743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EDDA3"/>
                </a:solidFill>
                <a:latin typeface="Aptos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709160"/>
            <a:ext cx="28346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2F6FF"/>
                </a:solidFill>
                <a:latin typeface="Aptos"/>
              </a:rPr>
              <a:t>Tests, coverage, 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80760"/>
            <a:ext cx="10424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2F6FF"/>
                </a:solidFill>
                <a:latin typeface="Aptos"/>
              </a:rPr>
              <a:t>CPU-Z identifies your hardware. HW Intel explains, visualizes, and exposes it—with an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1158</Words>
  <Application>Microsoft Office PowerPoint</Application>
  <PresentationFormat>Widescreen</PresentationFormat>
  <Paragraphs>205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Kailash Somu</cp:lastModifiedBy>
  <cp:revision>2</cp:revision>
  <dcterms:created xsi:type="dcterms:W3CDTF">2013-01-27T09:14:16Z</dcterms:created>
  <dcterms:modified xsi:type="dcterms:W3CDTF">2026-10-21T16:05:05Z</dcterms:modified>
  <cp:category/>
</cp:coreProperties>
</file>